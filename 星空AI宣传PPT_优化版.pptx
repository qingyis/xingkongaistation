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hyperlink" Target="https://xingkongai.zeabur.app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60720" y="548640"/>
            <a:ext cx="4023360" cy="4023360"/>
          </a:xfrm>
          <a:prstGeom prst="ellipse">
            <a:avLst/>
          </a:prstGeom>
          <a:solidFill>
            <a:srgbClr val="2D1B4E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309360" y="1097280"/>
            <a:ext cx="2926080" cy="2926080"/>
          </a:xfrm>
          <a:prstGeom prst="ellipse">
            <a:avLst/>
          </a:prstGeom>
          <a:solidFill>
            <a:srgbClr val="1A1A3E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766560" y="1554480"/>
            <a:ext cx="2011680" cy="2011680"/>
          </a:xfrm>
          <a:prstGeom prst="ellipse">
            <a:avLst/>
          </a:prstGeom>
          <a:solidFill>
            <a:srgbClr val="0F1F3F">
              <a:alpha val="5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7132320" y="1920240"/>
            <a:ext cx="1280160" cy="1280160"/>
          </a:xfrm>
          <a:prstGeom prst="ellipse">
            <a:avLst/>
          </a:prstGeom>
          <a:solidFill>
            <a:srgbClr val="1A0A3E">
              <a:alpha val="6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7406640" y="2194560"/>
            <a:ext cx="731520" cy="731520"/>
          </a:xfrm>
          <a:prstGeom prst="ellipse">
            <a:avLst/>
          </a:prstGeom>
          <a:solidFill>
            <a:srgbClr val="0A0520">
              <a:alpha val="8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5486400" y="274320"/>
            <a:ext cx="4572000" cy="4572000"/>
          </a:xfrm>
          <a:prstGeom prst="ellipse">
            <a:avLst/>
          </a:prstGeom>
          <a:ln w="25400">
            <a:solidFill>
              <a:srgbClr val="00F0FF">
                <a:alpha val="3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03520" y="91440"/>
            <a:ext cx="4937760" cy="4937760"/>
          </a:xfrm>
          <a:prstGeom prst="ellipse">
            <a:avLst/>
          </a:prstGeom>
          <a:ln w="12700">
            <a:solidFill>
              <a:srgbClr val="0099FF">
                <a:alpha val="2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35798" y="3545754"/>
            <a:ext cx="42397" cy="42397"/>
          </a:xfrm>
          <a:prstGeom prst="ellipse">
            <a:avLst/>
          </a:prstGeom>
          <a:solidFill>
            <a:srgbClr val="FFFFFF">
              <a:alpha val="67585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6039290" y="4485453"/>
            <a:ext cx="10300" cy="10300"/>
          </a:xfrm>
          <a:prstGeom prst="ellipse">
            <a:avLst/>
          </a:prstGeom>
          <a:solidFill>
            <a:srgbClr val="FFFFFF">
              <a:alpha val="60298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491244" y="2260885"/>
            <a:ext cx="10585" cy="10585"/>
          </a:xfrm>
          <a:prstGeom prst="ellipse">
            <a:avLst/>
          </a:prstGeom>
          <a:solidFill>
            <a:srgbClr val="FFFFFF">
              <a:alpha val="22231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3113854" y="3857813"/>
            <a:ext cx="48612" cy="48612"/>
          </a:xfrm>
          <a:prstGeom prst="ellipse">
            <a:avLst/>
          </a:prstGeom>
          <a:solidFill>
            <a:srgbClr val="FFFFFF">
              <a:alpha val="39355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6844664" y="684380"/>
            <a:ext cx="39542" cy="39542"/>
          </a:xfrm>
          <a:prstGeom prst="ellipse">
            <a:avLst/>
          </a:prstGeom>
          <a:solidFill>
            <a:srgbClr val="FFFFFF">
              <a:alpha val="40957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5981259" y="4202317"/>
            <a:ext cx="42851" cy="42851"/>
          </a:xfrm>
          <a:prstGeom prst="ellipse">
            <a:avLst/>
          </a:prstGeom>
          <a:solidFill>
            <a:srgbClr val="FFFFFF">
              <a:alpha val="22995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5335162" y="4703211"/>
            <a:ext cx="21725" cy="21725"/>
          </a:xfrm>
          <a:prstGeom prst="ellipse">
            <a:avLst/>
          </a:prstGeom>
          <a:solidFill>
            <a:srgbClr val="FFFFFF">
              <a:alpha val="67732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2457822" y="3422320"/>
            <a:ext cx="31067" cy="31067"/>
          </a:xfrm>
          <a:prstGeom prst="ellipse">
            <a:avLst/>
          </a:prstGeom>
          <a:solidFill>
            <a:srgbClr val="FFFFFF">
              <a:alpha val="20923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8203009" y="4628272"/>
            <a:ext cx="53469" cy="53469"/>
          </a:xfrm>
          <a:prstGeom prst="ellipse">
            <a:avLst/>
          </a:prstGeom>
          <a:solidFill>
            <a:srgbClr val="FFFFFF">
              <a:alpha val="51264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2528880" y="913501"/>
            <a:ext cx="37801" cy="37801"/>
          </a:xfrm>
          <a:prstGeom prst="ellipse">
            <a:avLst/>
          </a:prstGeom>
          <a:solidFill>
            <a:srgbClr val="FFFFFF">
              <a:alpha val="74289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8976153" y="5027900"/>
            <a:ext cx="19325" cy="19325"/>
          </a:xfrm>
          <a:prstGeom prst="ellipse">
            <a:avLst/>
          </a:prstGeom>
          <a:solidFill>
            <a:srgbClr val="FFFFFF">
              <a:alpha val="67466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3344842" y="3868775"/>
            <a:ext cx="24916" cy="24916"/>
          </a:xfrm>
          <a:prstGeom prst="ellipse">
            <a:avLst/>
          </a:prstGeom>
          <a:solidFill>
            <a:srgbClr val="FFFFFF">
              <a:alpha val="55842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5005493" y="4760844"/>
            <a:ext cx="13845" cy="13845"/>
          </a:xfrm>
          <a:prstGeom prst="ellipse">
            <a:avLst/>
          </a:prstGeom>
          <a:solidFill>
            <a:srgbClr val="FFFFFF">
              <a:alpha val="42347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7645463" y="342370"/>
            <a:ext cx="38908" cy="38908"/>
          </a:xfrm>
          <a:prstGeom prst="ellipse">
            <a:avLst/>
          </a:prstGeom>
          <a:solidFill>
            <a:srgbClr val="FFFFFF">
              <a:alpha val="50725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2229488" y="3669315"/>
            <a:ext cx="19455" cy="19455"/>
          </a:xfrm>
          <a:prstGeom prst="ellipse">
            <a:avLst/>
          </a:prstGeom>
          <a:solidFill>
            <a:srgbClr val="FFFFFF">
              <a:alpha val="32438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6247370" y="4984005"/>
            <a:ext cx="31415" cy="31415"/>
          </a:xfrm>
          <a:prstGeom prst="ellipse">
            <a:avLst/>
          </a:prstGeom>
          <a:solidFill>
            <a:srgbClr val="FFFFFF">
              <a:alpha val="73656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1122080" y="1655001"/>
            <a:ext cx="31576" cy="31576"/>
          </a:xfrm>
          <a:prstGeom prst="ellipse">
            <a:avLst/>
          </a:prstGeom>
          <a:solidFill>
            <a:srgbClr val="FFFFFF">
              <a:alpha val="52244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6079834" y="1393933"/>
            <a:ext cx="35700" cy="35700"/>
          </a:xfrm>
          <a:prstGeom prst="ellipse">
            <a:avLst/>
          </a:prstGeom>
          <a:solidFill>
            <a:srgbClr val="FFFFFF">
              <a:alpha val="68415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3005905" y="3165594"/>
            <a:ext cx="41304" cy="41304"/>
          </a:xfrm>
          <a:prstGeom prst="ellipse">
            <a:avLst/>
          </a:prstGeom>
          <a:solidFill>
            <a:srgbClr val="FFFFFF">
              <a:alpha val="27697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5281884" y="1383152"/>
            <a:ext cx="42352" cy="42352"/>
          </a:xfrm>
          <a:prstGeom prst="ellipse">
            <a:avLst/>
          </a:prstGeom>
          <a:solidFill>
            <a:srgbClr val="FFFFFF">
              <a:alpha val="53679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45014" y="4545742"/>
            <a:ext cx="49155" cy="49155"/>
          </a:xfrm>
          <a:prstGeom prst="ellipse">
            <a:avLst/>
          </a:prstGeom>
          <a:solidFill>
            <a:srgbClr val="FFFFFF">
              <a:alpha val="79488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1709227" y="4307109"/>
            <a:ext cx="29283" cy="29283"/>
          </a:xfrm>
          <a:prstGeom prst="ellipse">
            <a:avLst/>
          </a:prstGeom>
          <a:solidFill>
            <a:srgbClr val="FFFFFF">
              <a:alpha val="29029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8825622" y="3611518"/>
            <a:ext cx="51813" cy="51813"/>
          </a:xfrm>
          <a:prstGeom prst="ellipse">
            <a:avLst/>
          </a:prstGeom>
          <a:solidFill>
            <a:srgbClr val="FFFFFF">
              <a:alpha val="39551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1923659" y="3535255"/>
            <a:ext cx="17076" cy="17076"/>
          </a:xfrm>
          <a:prstGeom prst="ellipse">
            <a:avLst/>
          </a:prstGeom>
          <a:solidFill>
            <a:srgbClr val="FFFFFF">
              <a:alpha val="74328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8005667" y="108461"/>
            <a:ext cx="38258" cy="38258"/>
          </a:xfrm>
          <a:prstGeom prst="ellipse">
            <a:avLst/>
          </a:prstGeom>
          <a:solidFill>
            <a:srgbClr val="FFFFFF">
              <a:alpha val="38631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1825270" y="942685"/>
            <a:ext cx="49356" cy="49356"/>
          </a:xfrm>
          <a:prstGeom prst="ellipse">
            <a:avLst/>
          </a:prstGeom>
          <a:solidFill>
            <a:srgbClr val="FFFFFF">
              <a:alpha val="20684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7523201" y="675139"/>
            <a:ext cx="11722" cy="11722"/>
          </a:xfrm>
          <a:prstGeom prst="ellipse">
            <a:avLst/>
          </a:prstGeom>
          <a:solidFill>
            <a:srgbClr val="FFFFFF">
              <a:alpha val="41081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2658148" y="1224796"/>
            <a:ext cx="26724" cy="26724"/>
          </a:xfrm>
          <a:prstGeom prst="ellipse">
            <a:avLst/>
          </a:prstGeom>
          <a:solidFill>
            <a:srgbClr val="FFFFFF">
              <a:alpha val="73716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2938506" y="3785427"/>
            <a:ext cx="37035" cy="37035"/>
          </a:xfrm>
          <a:prstGeom prst="ellipse">
            <a:avLst/>
          </a:prstGeom>
          <a:solidFill>
            <a:srgbClr val="FFFFFF">
              <a:alpha val="76068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6398410" y="3194411"/>
            <a:ext cx="11613" cy="11613"/>
          </a:xfrm>
          <a:prstGeom prst="ellipse">
            <a:avLst/>
          </a:prstGeom>
          <a:solidFill>
            <a:srgbClr val="FFFFFF">
              <a:alpha val="50317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5146087" y="1511442"/>
            <a:ext cx="17580" cy="17580"/>
          </a:xfrm>
          <a:prstGeom prst="ellipse">
            <a:avLst/>
          </a:prstGeom>
          <a:solidFill>
            <a:srgbClr val="FFFFFF">
              <a:alpha val="40392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827327" y="480436"/>
            <a:ext cx="50834" cy="50834"/>
          </a:xfrm>
          <a:prstGeom prst="ellipse">
            <a:avLst/>
          </a:prstGeom>
          <a:solidFill>
            <a:srgbClr val="FFFFFF">
              <a:alpha val="62155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3770619" y="2390027"/>
            <a:ext cx="49658" cy="49658"/>
          </a:xfrm>
          <a:prstGeom prst="ellipse">
            <a:avLst/>
          </a:prstGeom>
          <a:solidFill>
            <a:srgbClr val="FFFFFF">
              <a:alpha val="27996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5465686" y="4110523"/>
            <a:ext cx="43213" cy="43213"/>
          </a:xfrm>
          <a:prstGeom prst="ellipse">
            <a:avLst/>
          </a:prstGeom>
          <a:solidFill>
            <a:srgbClr val="FFFFFF">
              <a:alpha val="70466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129224" y="1726588"/>
            <a:ext cx="18106" cy="18106"/>
          </a:xfrm>
          <a:prstGeom prst="ellipse">
            <a:avLst/>
          </a:prstGeom>
          <a:solidFill>
            <a:srgbClr val="FFFFFF">
              <a:alpha val="55008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5177138" y="2417545"/>
            <a:ext cx="38261" cy="38261"/>
          </a:xfrm>
          <a:prstGeom prst="ellipse">
            <a:avLst/>
          </a:prstGeom>
          <a:solidFill>
            <a:srgbClr val="FFFFFF">
              <a:alpha val="6288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6067254" y="2823039"/>
            <a:ext cx="31770" cy="31770"/>
          </a:xfrm>
          <a:prstGeom prst="ellipse">
            <a:avLst/>
          </a:prstGeom>
          <a:solidFill>
            <a:srgbClr val="FFFFFF">
              <a:alpha val="58087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3271088" y="4415512"/>
            <a:ext cx="36094" cy="36094"/>
          </a:xfrm>
          <a:prstGeom prst="ellipse">
            <a:avLst/>
          </a:prstGeom>
          <a:solidFill>
            <a:srgbClr val="FFFFFF">
              <a:alpha val="78192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746933" y="320292"/>
            <a:ext cx="29653" cy="29653"/>
          </a:xfrm>
          <a:prstGeom prst="ellipse">
            <a:avLst/>
          </a:prstGeom>
          <a:solidFill>
            <a:srgbClr val="FFFFFF">
              <a:alpha val="56121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5763346" y="3009645"/>
            <a:ext cx="29876" cy="29876"/>
          </a:xfrm>
          <a:prstGeom prst="ellipse">
            <a:avLst/>
          </a:prstGeom>
          <a:solidFill>
            <a:srgbClr val="FFFFFF">
              <a:alpha val="25634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3722625" y="2948829"/>
            <a:ext cx="14804" cy="14804"/>
          </a:xfrm>
          <a:prstGeom prst="ellipse">
            <a:avLst/>
          </a:prstGeom>
          <a:solidFill>
            <a:srgbClr val="FFFFFF">
              <a:alpha val="42706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2951852" y="1847815"/>
            <a:ext cx="25893" cy="25893"/>
          </a:xfrm>
          <a:prstGeom prst="ellipse">
            <a:avLst/>
          </a:prstGeom>
          <a:solidFill>
            <a:srgbClr val="FFFFFF">
              <a:alpha val="4603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2403089" y="3667522"/>
            <a:ext cx="41120" cy="41120"/>
          </a:xfrm>
          <a:prstGeom prst="ellipse">
            <a:avLst/>
          </a:prstGeom>
          <a:solidFill>
            <a:srgbClr val="FFFFFF">
              <a:alpha val="25063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2818705" y="4281162"/>
            <a:ext cx="40861" cy="40861"/>
          </a:xfrm>
          <a:prstGeom prst="ellipse">
            <a:avLst/>
          </a:prstGeom>
          <a:solidFill>
            <a:srgbClr val="FFFFFF">
              <a:alpha val="50745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3087375" y="3499003"/>
            <a:ext cx="28902" cy="28902"/>
          </a:xfrm>
          <a:prstGeom prst="ellipse">
            <a:avLst/>
          </a:prstGeom>
          <a:solidFill>
            <a:srgbClr val="FFFFFF">
              <a:alpha val="74648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3427451" y="119290"/>
            <a:ext cx="31129" cy="31129"/>
          </a:xfrm>
          <a:prstGeom prst="ellipse">
            <a:avLst/>
          </a:prstGeom>
          <a:solidFill>
            <a:srgbClr val="FFFFFF">
              <a:alpha val="7825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3370363" y="4212063"/>
            <a:ext cx="42818" cy="42818"/>
          </a:xfrm>
          <a:prstGeom prst="ellipse">
            <a:avLst/>
          </a:prstGeom>
          <a:solidFill>
            <a:srgbClr val="FFFFFF">
              <a:alpha val="74123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462570" y="4437609"/>
            <a:ext cx="27788" cy="27788"/>
          </a:xfrm>
          <a:prstGeom prst="ellipse">
            <a:avLst/>
          </a:prstGeom>
          <a:solidFill>
            <a:srgbClr val="FFFFFF">
              <a:alpha val="69387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569262" y="931390"/>
            <a:ext cx="14535" cy="14535"/>
          </a:xfrm>
          <a:prstGeom prst="ellipse">
            <a:avLst/>
          </a:prstGeom>
          <a:solidFill>
            <a:srgbClr val="FFFFFF">
              <a:alpha val="69764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4721782" y="1615653"/>
            <a:ext cx="53071" cy="53071"/>
          </a:xfrm>
          <a:prstGeom prst="ellipse">
            <a:avLst/>
          </a:prstGeom>
          <a:solidFill>
            <a:srgbClr val="FFFFFF">
              <a:alpha val="22085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8387224" y="4989990"/>
            <a:ext cx="30649" cy="30649"/>
          </a:xfrm>
          <a:prstGeom prst="ellipse">
            <a:avLst/>
          </a:prstGeom>
          <a:solidFill>
            <a:srgbClr val="FFFFFF">
              <a:alpha val="45116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1197530" y="1498711"/>
            <a:ext cx="16914" cy="16914"/>
          </a:xfrm>
          <a:prstGeom prst="ellipse">
            <a:avLst/>
          </a:prstGeom>
          <a:solidFill>
            <a:srgbClr val="FFFFFF">
              <a:alpha val="50871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6049644" y="4381331"/>
            <a:ext cx="12787" cy="12787"/>
          </a:xfrm>
          <a:prstGeom prst="ellipse">
            <a:avLst/>
          </a:prstGeom>
          <a:solidFill>
            <a:srgbClr val="FFFFFF">
              <a:alpha val="28352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1388017" y="891024"/>
            <a:ext cx="23230" cy="23230"/>
          </a:xfrm>
          <a:prstGeom prst="ellipse">
            <a:avLst/>
          </a:prstGeom>
          <a:solidFill>
            <a:srgbClr val="FFFFFF">
              <a:alpha val="59951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8561228" y="656754"/>
            <a:ext cx="38735" cy="38735"/>
          </a:xfrm>
          <a:prstGeom prst="ellipse">
            <a:avLst/>
          </a:prstGeom>
          <a:solidFill>
            <a:srgbClr val="FFFFFF">
              <a:alpha val="54775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1333662" y="3709237"/>
            <a:ext cx="34697" cy="34697"/>
          </a:xfrm>
          <a:prstGeom prst="ellipse">
            <a:avLst/>
          </a:prstGeom>
          <a:solidFill>
            <a:srgbClr val="FFFFFF">
              <a:alpha val="34597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1068506" y="2940142"/>
            <a:ext cx="39039" cy="39039"/>
          </a:xfrm>
          <a:prstGeom prst="ellipse">
            <a:avLst/>
          </a:prstGeom>
          <a:solidFill>
            <a:srgbClr val="FFFFFF">
              <a:alpha val="76450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3724470" y="1335840"/>
            <a:ext cx="25208" cy="25208"/>
          </a:xfrm>
          <a:prstGeom prst="ellipse">
            <a:avLst/>
          </a:prstGeom>
          <a:solidFill>
            <a:srgbClr val="FFFFFF">
              <a:alpha val="76058"/>
            </a:srgbClr>
          </a:solidFill>
          <a:ln/>
        </p:spPr>
      </p:sp>
      <p:sp>
        <p:nvSpPr>
          <p:cNvPr id="67" name="Shape 65"/>
          <p:cNvSpPr/>
          <p:nvPr/>
        </p:nvSpPr>
        <p:spPr>
          <a:xfrm>
            <a:off x="8262089" y="900328"/>
            <a:ext cx="48201" cy="48201"/>
          </a:xfrm>
          <a:prstGeom prst="ellipse">
            <a:avLst/>
          </a:prstGeom>
          <a:solidFill>
            <a:srgbClr val="FFFFFF">
              <a:alpha val="49443"/>
            </a:srgbClr>
          </a:solidFill>
          <a:ln/>
        </p:spPr>
      </p:sp>
      <p:sp>
        <p:nvSpPr>
          <p:cNvPr id="68" name="Shape 66"/>
          <p:cNvSpPr/>
          <p:nvPr/>
        </p:nvSpPr>
        <p:spPr>
          <a:xfrm>
            <a:off x="4511440" y="624876"/>
            <a:ext cx="11941" cy="11941"/>
          </a:xfrm>
          <a:prstGeom prst="ellipse">
            <a:avLst/>
          </a:prstGeom>
          <a:solidFill>
            <a:srgbClr val="FFFFFF">
              <a:alpha val="72675"/>
            </a:srgbClr>
          </a:solidFill>
          <a:ln/>
        </p:spPr>
      </p:sp>
      <p:sp>
        <p:nvSpPr>
          <p:cNvPr id="69" name="Shape 67"/>
          <p:cNvSpPr/>
          <p:nvPr/>
        </p:nvSpPr>
        <p:spPr>
          <a:xfrm>
            <a:off x="1711648" y="4808721"/>
            <a:ext cx="41214" cy="41214"/>
          </a:xfrm>
          <a:prstGeom prst="ellipse">
            <a:avLst/>
          </a:prstGeom>
          <a:solidFill>
            <a:srgbClr val="FFFFFF">
              <a:alpha val="75926"/>
            </a:srgbClr>
          </a:solidFill>
          <a:ln/>
        </p:spPr>
      </p:sp>
      <p:sp>
        <p:nvSpPr>
          <p:cNvPr id="70" name="Shape 68"/>
          <p:cNvSpPr/>
          <p:nvPr/>
        </p:nvSpPr>
        <p:spPr>
          <a:xfrm>
            <a:off x="365760" y="1645920"/>
            <a:ext cx="73152" cy="2011680"/>
          </a:xfrm>
          <a:prstGeom prst="rect">
            <a:avLst/>
          </a:prstGeom>
          <a:solidFill>
            <a:srgbClr val="00F0FF"/>
          </a:solidFill>
          <a:ln/>
        </p:spPr>
      </p:sp>
      <p:sp>
        <p:nvSpPr>
          <p:cNvPr id="71" name="Shape 69"/>
          <p:cNvSpPr/>
          <p:nvPr/>
        </p:nvSpPr>
        <p:spPr>
          <a:xfrm>
            <a:off x="502920" y="1645920"/>
            <a:ext cx="1645920" cy="0"/>
          </a:xfrm>
          <a:prstGeom prst="line">
            <a:avLst/>
          </a:prstGeom>
          <a:noFill/>
          <a:ln w="25400">
            <a:solidFill>
              <a:srgbClr val="00F0FF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502920" y="1920240"/>
            <a:ext cx="1280160" cy="0"/>
          </a:xfrm>
          <a:prstGeom prst="line">
            <a:avLst/>
          </a:prstGeom>
          <a:noFill/>
          <a:ln w="25400">
            <a:solidFill>
              <a:srgbClr val="00F0FF">
                <a:alpha val="70000"/>
              </a:srgbClr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502920" y="2194560"/>
            <a:ext cx="914400" cy="0"/>
          </a:xfrm>
          <a:prstGeom prst="line">
            <a:avLst/>
          </a:prstGeom>
          <a:noFill/>
          <a:ln w="25400">
            <a:solidFill>
              <a:srgbClr val="00F0FF">
                <a:alpha val="50000"/>
              </a:srgbClr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502920" y="3657600"/>
            <a:ext cx="1463040" cy="0"/>
          </a:xfrm>
          <a:prstGeom prst="line">
            <a:avLst/>
          </a:prstGeom>
          <a:noFill/>
          <a:ln w="25400">
            <a:solidFill>
              <a:srgbClr val="00F0FF">
                <a:alpha val="80000"/>
              </a:srgbClr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548640" y="2011680"/>
            <a:ext cx="5943600" cy="914400"/>
          </a:xfrm>
          <a:prstGeom prst="rect">
            <a:avLst/>
          </a:prstGeom>
          <a:noFill/>
          <a:ln/>
          <a:effectLst>
            <a:outerShdw sx="100000" sy="100000" kx="0" ky="0" algn="bl" rotWithShape="0" blurRad="101600" dist="25400" dir="2700000">
              <a:srgbClr val="00f0ff">
                <a:alpha val="60000"/>
              </a:srgbClr>
            </a:outerShdw>
          </a:effectLst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星空AI</a:t>
            </a:r>
            <a:endParaRPr lang="en-US" sz="8800" dirty="0"/>
          </a:p>
        </p:txBody>
      </p:sp>
      <p:sp>
        <p:nvSpPr>
          <p:cNvPr id="76" name="Text 74"/>
          <p:cNvSpPr/>
          <p:nvPr/>
        </p:nvSpPr>
        <p:spPr>
          <a:xfrm>
            <a:off x="548640" y="301752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F0FF"/>
                </a:solidFill>
                <a:effectLst>
                  <a:glow rad="101600">
                    <a:srgbClr val="00F0FF">
                      <a:alpha val="50000"/>
                    </a:srgbClr>
                  </a:glow>
                </a:effectLst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卷爆所有中转站的星空AI来了！</a:t>
            </a:r>
            <a:endParaRPr lang="en-US" sz="2800" dirty="0"/>
          </a:p>
        </p:txBody>
      </p:sp>
      <p:sp>
        <p:nvSpPr>
          <p:cNvPr id="77" name="Text 75"/>
          <p:cNvSpPr/>
          <p:nvPr/>
        </p:nvSpPr>
        <p:spPr>
          <a:xfrm>
            <a:off x="548640" y="365760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spc="200" kern="0" dirty="0">
                <a:solidFill>
                  <a:srgbClr val="8892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NEXT-GENERATION AI API GATEWAY</a:t>
            </a:r>
            <a:endParaRPr lang="en-US" sz="1400" dirty="0"/>
          </a:p>
        </p:txBody>
      </p:sp>
      <p:sp>
        <p:nvSpPr>
          <p:cNvPr id="78" name="Shape 76"/>
          <p:cNvSpPr/>
          <p:nvPr/>
        </p:nvSpPr>
        <p:spPr>
          <a:xfrm>
            <a:off x="548640" y="4114800"/>
            <a:ext cx="3200400" cy="27432"/>
          </a:xfrm>
          <a:prstGeom prst="rect">
            <a:avLst/>
          </a:prstGeom>
          <a:solidFill>
            <a:srgbClr val="FFD700">
              <a:alpha val="70000"/>
            </a:srgbClr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0"/>
            <a:ext cx="0" cy="5143500"/>
          </a:xfrm>
          <a:prstGeom prst="line">
            <a:avLst/>
          </a:prstGeom>
          <a:noFill/>
          <a:ln w="6350">
            <a:solidFill>
              <a:srgbClr val="1A1A3E">
                <a:alpha val="1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6350">
            <a:solidFill>
              <a:srgbClr val="1A1A3E">
                <a:alpha val="1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371600" y="0"/>
            <a:ext cx="0" cy="5143500"/>
          </a:xfrm>
          <a:prstGeom prst="line">
            <a:avLst/>
          </a:prstGeom>
          <a:noFill/>
          <a:ln w="6350">
            <a:solidFill>
              <a:srgbClr val="1A1A3E">
                <a:alpha val="1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6350">
            <a:solidFill>
              <a:srgbClr val="1A1A3E">
                <a:alpha val="1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0" y="0"/>
            <a:ext cx="0" cy="5143500"/>
          </a:xfrm>
          <a:prstGeom prst="line">
            <a:avLst/>
          </a:prstGeom>
          <a:noFill/>
          <a:ln w="6350">
            <a:solidFill>
              <a:srgbClr val="1A1A3E">
                <a:alpha val="1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6350">
            <a:solidFill>
              <a:srgbClr val="1A1A3E">
                <a:alpha val="1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0" y="0"/>
            <a:ext cx="0" cy="5143500"/>
          </a:xfrm>
          <a:prstGeom prst="line">
            <a:avLst/>
          </a:prstGeom>
          <a:noFill/>
          <a:ln w="6350">
            <a:solidFill>
              <a:srgbClr val="1A1A3E">
                <a:alpha val="1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6350">
            <a:solidFill>
              <a:srgbClr val="1A1A3E">
                <a:alpha val="1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14800" y="0"/>
            <a:ext cx="0" cy="5143500"/>
          </a:xfrm>
          <a:prstGeom prst="line">
            <a:avLst/>
          </a:prstGeom>
          <a:noFill/>
          <a:ln w="6350">
            <a:solidFill>
              <a:srgbClr val="1A1A3E">
                <a:alpha val="1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6350">
            <a:solidFill>
              <a:srgbClr val="1A1A3E">
                <a:alpha val="1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29200" y="0"/>
            <a:ext cx="0" cy="5143500"/>
          </a:xfrm>
          <a:prstGeom prst="line">
            <a:avLst/>
          </a:prstGeom>
          <a:noFill/>
          <a:ln w="6350">
            <a:solidFill>
              <a:srgbClr val="1A1A3E">
                <a:alpha val="1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6350">
            <a:solidFill>
              <a:srgbClr val="1A1A3E">
                <a:alpha val="1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943600" y="0"/>
            <a:ext cx="0" cy="5143500"/>
          </a:xfrm>
          <a:prstGeom prst="line">
            <a:avLst/>
          </a:prstGeom>
          <a:noFill/>
          <a:ln w="6350">
            <a:solidFill>
              <a:srgbClr val="1A1A3E">
                <a:alpha val="1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6350">
            <a:solidFill>
              <a:srgbClr val="1A1A3E">
                <a:alpha val="1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858000" y="0"/>
            <a:ext cx="0" cy="5143500"/>
          </a:xfrm>
          <a:prstGeom prst="line">
            <a:avLst/>
          </a:prstGeom>
          <a:noFill/>
          <a:ln w="6350">
            <a:solidFill>
              <a:srgbClr val="1A1A3E">
                <a:alpha val="1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6350">
            <a:solidFill>
              <a:srgbClr val="1A1A3E">
                <a:alpha val="1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0" y="0"/>
            <a:ext cx="0" cy="5143500"/>
          </a:xfrm>
          <a:prstGeom prst="line">
            <a:avLst/>
          </a:prstGeom>
          <a:noFill/>
          <a:ln w="6350">
            <a:solidFill>
              <a:srgbClr val="1A1A3E">
                <a:alpha val="1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6350">
            <a:solidFill>
              <a:srgbClr val="1A1A3E">
                <a:alpha val="1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686800" y="0"/>
            <a:ext cx="0" cy="5143500"/>
          </a:xfrm>
          <a:prstGeom prst="line">
            <a:avLst/>
          </a:prstGeom>
          <a:noFill/>
          <a:ln w="6350">
            <a:solidFill>
              <a:srgbClr val="1A1A3E">
                <a:alpha val="1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144000" y="0"/>
            <a:ext cx="0" cy="5143500"/>
          </a:xfrm>
          <a:prstGeom prst="line">
            <a:avLst/>
          </a:prstGeom>
          <a:noFill/>
          <a:ln w="6350">
            <a:solidFill>
              <a:srgbClr val="1A1A3E">
                <a:alpha val="1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模型矩阵</a:t>
            </a:r>
            <a:endParaRPr lang="en-US" sz="5200" dirty="0"/>
          </a:p>
        </p:txBody>
      </p:sp>
      <p:sp>
        <p:nvSpPr>
          <p:cNvPr id="23" name="Shape 21"/>
          <p:cNvSpPr/>
          <p:nvPr/>
        </p:nvSpPr>
        <p:spPr>
          <a:xfrm>
            <a:off x="457200" y="1005840"/>
            <a:ext cx="3200400" cy="45720"/>
          </a:xfrm>
          <a:prstGeom prst="rect">
            <a:avLst/>
          </a:prstGeom>
          <a:solidFill>
            <a:srgbClr val="00F0FF"/>
          </a:solidFill>
          <a:ln/>
        </p:spPr>
      </p:sp>
      <p:sp>
        <p:nvSpPr>
          <p:cNvPr id="24" name="Shape 22"/>
          <p:cNvSpPr/>
          <p:nvPr/>
        </p:nvSpPr>
        <p:spPr>
          <a:xfrm>
            <a:off x="3749040" y="1005840"/>
            <a:ext cx="731520" cy="45720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25" name="Shape 23"/>
          <p:cNvSpPr/>
          <p:nvPr/>
        </p:nvSpPr>
        <p:spPr>
          <a:xfrm>
            <a:off x="365760" y="1051560"/>
            <a:ext cx="4114800" cy="566928"/>
          </a:xfrm>
          <a:prstGeom prst="rect">
            <a:avLst/>
          </a:prstGeom>
          <a:solidFill>
            <a:srgbClr val="252541"/>
          </a:solidFill>
          <a:ln/>
        </p:spPr>
      </p:sp>
      <p:sp>
        <p:nvSpPr>
          <p:cNvPr id="26" name="Shape 24"/>
          <p:cNvSpPr/>
          <p:nvPr/>
        </p:nvSpPr>
        <p:spPr>
          <a:xfrm>
            <a:off x="365760" y="1051560"/>
            <a:ext cx="73152" cy="566928"/>
          </a:xfrm>
          <a:prstGeom prst="rect">
            <a:avLst/>
          </a:prstGeom>
          <a:solidFill>
            <a:srgbClr val="00FF88"/>
          </a:solidFill>
          <a:ln/>
        </p:spPr>
      </p:sp>
      <p:sp>
        <p:nvSpPr>
          <p:cNvPr id="27" name="Text 25"/>
          <p:cNvSpPr/>
          <p:nvPr/>
        </p:nvSpPr>
        <p:spPr>
          <a:xfrm>
            <a:off x="548640" y="114300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claude-haiku-4.5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48640" y="1399032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0FF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轻量级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377440" y="1399032"/>
            <a:ext cx="1005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输入 $1.0000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429000" y="1399032"/>
            <a:ext cx="1005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输出 $5.0000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48640" y="1563624"/>
            <a:ext cx="384048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1M Tokens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590288" y="1051560"/>
            <a:ext cx="4114800" cy="566928"/>
          </a:xfrm>
          <a:prstGeom prst="rect">
            <a:avLst/>
          </a:prstGeom>
          <a:solidFill>
            <a:srgbClr val="252541"/>
          </a:solidFill>
          <a:ln/>
        </p:spPr>
      </p:sp>
      <p:sp>
        <p:nvSpPr>
          <p:cNvPr id="33" name="Shape 31"/>
          <p:cNvSpPr/>
          <p:nvPr/>
        </p:nvSpPr>
        <p:spPr>
          <a:xfrm>
            <a:off x="4590288" y="1051560"/>
            <a:ext cx="73152" cy="566928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4" name="Text 32"/>
          <p:cNvSpPr/>
          <p:nvPr/>
        </p:nvSpPr>
        <p:spPr>
          <a:xfrm>
            <a:off x="4773168" y="114300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claude-haiku-4.5-thinking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4773168" y="1399032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0D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思考型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601968" y="1399032"/>
            <a:ext cx="1005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输入 $1.5000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7653528" y="1399032"/>
            <a:ext cx="1005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输出 $7.5000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773168" y="1563624"/>
            <a:ext cx="384048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1M Tokens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365760" y="1728216"/>
            <a:ext cx="4114800" cy="566928"/>
          </a:xfrm>
          <a:prstGeom prst="rect">
            <a:avLst/>
          </a:prstGeom>
          <a:solidFill>
            <a:srgbClr val="252541"/>
          </a:solidFill>
          <a:ln/>
        </p:spPr>
      </p:sp>
      <p:sp>
        <p:nvSpPr>
          <p:cNvPr id="40" name="Shape 38"/>
          <p:cNvSpPr/>
          <p:nvPr/>
        </p:nvSpPr>
        <p:spPr>
          <a:xfrm>
            <a:off x="365760" y="1728216"/>
            <a:ext cx="73152" cy="566928"/>
          </a:xfrm>
          <a:prstGeom prst="rect">
            <a:avLst/>
          </a:prstGeom>
          <a:solidFill>
            <a:srgbClr val="0099FF"/>
          </a:solidFill>
          <a:ln/>
        </p:spPr>
      </p:sp>
      <p:sp>
        <p:nvSpPr>
          <p:cNvPr id="41" name="Text 39"/>
          <p:cNvSpPr/>
          <p:nvPr/>
        </p:nvSpPr>
        <p:spPr>
          <a:xfrm>
            <a:off x="548640" y="1819656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claude-sonnet-4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548640" y="2075688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099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标准版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2377440" y="2075688"/>
            <a:ext cx="1005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输入 $2.0000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3429000" y="2075688"/>
            <a:ext cx="1005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输出 $10.0000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548640" y="2240280"/>
            <a:ext cx="384048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1M Tokens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590288" y="1728216"/>
            <a:ext cx="4114800" cy="566928"/>
          </a:xfrm>
          <a:prstGeom prst="rect">
            <a:avLst/>
          </a:prstGeom>
          <a:solidFill>
            <a:srgbClr val="252541"/>
          </a:solidFill>
          <a:ln/>
        </p:spPr>
      </p:sp>
      <p:sp>
        <p:nvSpPr>
          <p:cNvPr id="47" name="Shape 45"/>
          <p:cNvSpPr/>
          <p:nvPr/>
        </p:nvSpPr>
        <p:spPr>
          <a:xfrm>
            <a:off x="4590288" y="1728216"/>
            <a:ext cx="73152" cy="566928"/>
          </a:xfrm>
          <a:prstGeom prst="rect">
            <a:avLst/>
          </a:prstGeom>
          <a:solidFill>
            <a:srgbClr val="FF8C42"/>
          </a:solidFill>
          <a:ln/>
        </p:spPr>
      </p:sp>
      <p:sp>
        <p:nvSpPr>
          <p:cNvPr id="48" name="Text 46"/>
          <p:cNvSpPr/>
          <p:nvPr/>
        </p:nvSpPr>
        <p:spPr>
          <a:xfrm>
            <a:off x="4773168" y="1819656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claude-sonnet-4.5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4773168" y="2075688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8C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增强版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6601968" y="2075688"/>
            <a:ext cx="1005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输入 $2.5000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7653528" y="2075688"/>
            <a:ext cx="1005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输出 $12.5000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4773168" y="2240280"/>
            <a:ext cx="384048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1M Tokens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365760" y="2404872"/>
            <a:ext cx="4114800" cy="566928"/>
          </a:xfrm>
          <a:prstGeom prst="rect">
            <a:avLst/>
          </a:prstGeom>
          <a:solidFill>
            <a:srgbClr val="252541"/>
          </a:solidFill>
          <a:ln/>
        </p:spPr>
      </p:sp>
      <p:sp>
        <p:nvSpPr>
          <p:cNvPr id="54" name="Shape 52"/>
          <p:cNvSpPr/>
          <p:nvPr/>
        </p:nvSpPr>
        <p:spPr>
          <a:xfrm>
            <a:off x="365760" y="2404872"/>
            <a:ext cx="73152" cy="566928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55" name="Text 53"/>
          <p:cNvSpPr/>
          <p:nvPr/>
        </p:nvSpPr>
        <p:spPr>
          <a:xfrm>
            <a:off x="548640" y="2496312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claude-sonnet-4.5-thinking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548640" y="275234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D7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旗舰版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2377440" y="2752344"/>
            <a:ext cx="1005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输入 $3.7500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3429000" y="2752344"/>
            <a:ext cx="1005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输出 $18.7500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548640" y="2916936"/>
            <a:ext cx="384048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1M Tokens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4590288" y="2404872"/>
            <a:ext cx="4114800" cy="566928"/>
          </a:xfrm>
          <a:prstGeom prst="rect">
            <a:avLst/>
          </a:prstGeom>
          <a:solidFill>
            <a:srgbClr val="252541"/>
          </a:solidFill>
          <a:ln/>
        </p:spPr>
      </p:sp>
      <p:sp>
        <p:nvSpPr>
          <p:cNvPr id="61" name="Shape 59"/>
          <p:cNvSpPr/>
          <p:nvPr/>
        </p:nvSpPr>
        <p:spPr>
          <a:xfrm>
            <a:off x="4590288" y="2404872"/>
            <a:ext cx="73152" cy="566928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62" name="Text 60"/>
          <p:cNvSpPr/>
          <p:nvPr/>
        </p:nvSpPr>
        <p:spPr>
          <a:xfrm>
            <a:off x="4773168" y="2496312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glm-5-thinking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4773168" y="275234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思考型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6601968" y="2752344"/>
            <a:ext cx="1005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输入 $0.5000</a:t>
            </a:r>
            <a:endParaRPr lang="en-US" sz="1100" dirty="0"/>
          </a:p>
        </p:txBody>
      </p:sp>
      <p:sp>
        <p:nvSpPr>
          <p:cNvPr id="65" name="Text 63"/>
          <p:cNvSpPr/>
          <p:nvPr/>
        </p:nvSpPr>
        <p:spPr>
          <a:xfrm>
            <a:off x="7653528" y="2752344"/>
            <a:ext cx="1005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输出 $2.5000</a:t>
            </a:r>
            <a:endParaRPr lang="en-US" sz="1100" dirty="0"/>
          </a:p>
        </p:txBody>
      </p:sp>
      <p:sp>
        <p:nvSpPr>
          <p:cNvPr id="66" name="Text 64"/>
          <p:cNvSpPr/>
          <p:nvPr/>
        </p:nvSpPr>
        <p:spPr>
          <a:xfrm>
            <a:off x="4773168" y="2916936"/>
            <a:ext cx="384048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1M Tokens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365760" y="3081528"/>
            <a:ext cx="4114800" cy="566928"/>
          </a:xfrm>
          <a:prstGeom prst="rect">
            <a:avLst/>
          </a:prstGeom>
          <a:solidFill>
            <a:srgbClr val="252541"/>
          </a:solidFill>
          <a:ln/>
        </p:spPr>
      </p:sp>
      <p:sp>
        <p:nvSpPr>
          <p:cNvPr id="68" name="Shape 66"/>
          <p:cNvSpPr/>
          <p:nvPr/>
        </p:nvSpPr>
        <p:spPr>
          <a:xfrm>
            <a:off x="365760" y="3081528"/>
            <a:ext cx="73152" cy="566928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69" name="Text 67"/>
          <p:cNvSpPr/>
          <p:nvPr/>
        </p:nvSpPr>
        <p:spPr>
          <a:xfrm>
            <a:off x="548640" y="3172968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deepseek-3.2-thinking</a:t>
            </a:r>
            <a:endParaRPr lang="en-US" sz="1600" dirty="0"/>
          </a:p>
        </p:txBody>
      </p:sp>
      <p:sp>
        <p:nvSpPr>
          <p:cNvPr id="70" name="Text 68"/>
          <p:cNvSpPr/>
          <p:nvPr/>
        </p:nvSpPr>
        <p:spPr>
          <a:xfrm>
            <a:off x="548640" y="3429000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ECD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思考型</a:t>
            </a:r>
            <a:endParaRPr lang="en-US" sz="1100" dirty="0"/>
          </a:p>
        </p:txBody>
      </p:sp>
      <p:sp>
        <p:nvSpPr>
          <p:cNvPr id="71" name="Text 69"/>
          <p:cNvSpPr/>
          <p:nvPr/>
        </p:nvSpPr>
        <p:spPr>
          <a:xfrm>
            <a:off x="2377440" y="3429000"/>
            <a:ext cx="1005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输入 $0.4400</a:t>
            </a:r>
            <a:endParaRPr lang="en-US" sz="1100" dirty="0"/>
          </a:p>
        </p:txBody>
      </p:sp>
      <p:sp>
        <p:nvSpPr>
          <p:cNvPr id="72" name="Text 70"/>
          <p:cNvSpPr/>
          <p:nvPr/>
        </p:nvSpPr>
        <p:spPr>
          <a:xfrm>
            <a:off x="3429000" y="3429000"/>
            <a:ext cx="1005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输出 $2.2000</a:t>
            </a:r>
            <a:endParaRPr lang="en-US" sz="1100" dirty="0"/>
          </a:p>
        </p:txBody>
      </p:sp>
      <p:sp>
        <p:nvSpPr>
          <p:cNvPr id="73" name="Text 71"/>
          <p:cNvSpPr/>
          <p:nvPr/>
        </p:nvSpPr>
        <p:spPr>
          <a:xfrm>
            <a:off x="548640" y="3593592"/>
            <a:ext cx="384048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1M Tokens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4590288" y="3081528"/>
            <a:ext cx="4114800" cy="566928"/>
          </a:xfrm>
          <a:prstGeom prst="rect">
            <a:avLst/>
          </a:prstGeom>
          <a:solidFill>
            <a:srgbClr val="252541"/>
          </a:solidFill>
          <a:ln/>
        </p:spPr>
      </p:sp>
      <p:sp>
        <p:nvSpPr>
          <p:cNvPr id="75" name="Shape 73"/>
          <p:cNvSpPr/>
          <p:nvPr/>
        </p:nvSpPr>
        <p:spPr>
          <a:xfrm>
            <a:off x="4590288" y="3081528"/>
            <a:ext cx="73152" cy="566928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76" name="Text 74"/>
          <p:cNvSpPr/>
          <p:nvPr/>
        </p:nvSpPr>
        <p:spPr>
          <a:xfrm>
            <a:off x="4773168" y="3172968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minimax-m2.5-thinking</a:t>
            </a:r>
            <a:endParaRPr lang="en-US" sz="1600" dirty="0"/>
          </a:p>
        </p:txBody>
      </p:sp>
      <p:sp>
        <p:nvSpPr>
          <p:cNvPr id="77" name="Text 75"/>
          <p:cNvSpPr/>
          <p:nvPr/>
        </p:nvSpPr>
        <p:spPr>
          <a:xfrm>
            <a:off x="4773168" y="3429000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855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思考型</a:t>
            </a:r>
            <a:endParaRPr lang="en-US" sz="1100" dirty="0"/>
          </a:p>
        </p:txBody>
      </p:sp>
      <p:sp>
        <p:nvSpPr>
          <p:cNvPr id="78" name="Text 76"/>
          <p:cNvSpPr/>
          <p:nvPr/>
        </p:nvSpPr>
        <p:spPr>
          <a:xfrm>
            <a:off x="6601968" y="3429000"/>
            <a:ext cx="1005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输入 $0.6000</a:t>
            </a:r>
            <a:endParaRPr lang="en-US" sz="1100" dirty="0"/>
          </a:p>
        </p:txBody>
      </p:sp>
      <p:sp>
        <p:nvSpPr>
          <p:cNvPr id="79" name="Text 77"/>
          <p:cNvSpPr/>
          <p:nvPr/>
        </p:nvSpPr>
        <p:spPr>
          <a:xfrm>
            <a:off x="7653528" y="3429000"/>
            <a:ext cx="1005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输出 $3.0000</a:t>
            </a:r>
            <a:endParaRPr lang="en-US" sz="1100" dirty="0"/>
          </a:p>
        </p:txBody>
      </p:sp>
      <p:sp>
        <p:nvSpPr>
          <p:cNvPr id="80" name="Text 78"/>
          <p:cNvSpPr/>
          <p:nvPr/>
        </p:nvSpPr>
        <p:spPr>
          <a:xfrm>
            <a:off x="4773168" y="3593592"/>
            <a:ext cx="384048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1M Tokens</a:t>
            </a:r>
            <a:endParaRPr lang="en-US" sz="900" dirty="0"/>
          </a:p>
        </p:txBody>
      </p:sp>
      <p:sp>
        <p:nvSpPr>
          <p:cNvPr id="81" name="Shape 79"/>
          <p:cNvSpPr/>
          <p:nvPr/>
        </p:nvSpPr>
        <p:spPr>
          <a:xfrm>
            <a:off x="365760" y="3758184"/>
            <a:ext cx="4114800" cy="566928"/>
          </a:xfrm>
          <a:prstGeom prst="rect">
            <a:avLst/>
          </a:prstGeom>
          <a:solidFill>
            <a:srgbClr val="252541"/>
          </a:solidFill>
          <a:ln/>
        </p:spPr>
      </p:sp>
      <p:sp>
        <p:nvSpPr>
          <p:cNvPr id="82" name="Shape 80"/>
          <p:cNvSpPr/>
          <p:nvPr/>
        </p:nvSpPr>
        <p:spPr>
          <a:xfrm>
            <a:off x="365760" y="3758184"/>
            <a:ext cx="73152" cy="566928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83" name="Text 81"/>
          <p:cNvSpPr/>
          <p:nvPr/>
        </p:nvSpPr>
        <p:spPr>
          <a:xfrm>
            <a:off x="548640" y="3849624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qwen3-coder-next-thinking</a:t>
            </a:r>
            <a:endParaRPr lang="en-US" sz="1600" dirty="0"/>
          </a:p>
        </p:txBody>
      </p:sp>
      <p:sp>
        <p:nvSpPr>
          <p:cNvPr id="84" name="Text 82"/>
          <p:cNvSpPr/>
          <p:nvPr/>
        </p:nvSpPr>
        <p:spPr>
          <a:xfrm>
            <a:off x="548640" y="4105656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973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编程型</a:t>
            </a:r>
            <a:endParaRPr lang="en-US" sz="1100" dirty="0"/>
          </a:p>
        </p:txBody>
      </p:sp>
      <p:sp>
        <p:nvSpPr>
          <p:cNvPr id="85" name="Text 83"/>
          <p:cNvSpPr/>
          <p:nvPr/>
        </p:nvSpPr>
        <p:spPr>
          <a:xfrm>
            <a:off x="2377440" y="4105656"/>
            <a:ext cx="1005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输入 $0.8000</a:t>
            </a:r>
            <a:endParaRPr lang="en-US" sz="1100" dirty="0"/>
          </a:p>
        </p:txBody>
      </p:sp>
      <p:sp>
        <p:nvSpPr>
          <p:cNvPr id="86" name="Text 84"/>
          <p:cNvSpPr/>
          <p:nvPr/>
        </p:nvSpPr>
        <p:spPr>
          <a:xfrm>
            <a:off x="3429000" y="4105656"/>
            <a:ext cx="1005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输出 $4.0000</a:t>
            </a:r>
            <a:endParaRPr lang="en-US" sz="1100" dirty="0"/>
          </a:p>
        </p:txBody>
      </p:sp>
      <p:sp>
        <p:nvSpPr>
          <p:cNvPr id="87" name="Text 85"/>
          <p:cNvSpPr/>
          <p:nvPr/>
        </p:nvSpPr>
        <p:spPr>
          <a:xfrm>
            <a:off x="548640" y="4270248"/>
            <a:ext cx="384048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1M Tokens</a:t>
            </a:r>
            <a:endParaRPr lang="en-US" sz="900" dirty="0"/>
          </a:p>
        </p:txBody>
      </p:sp>
      <p:sp>
        <p:nvSpPr>
          <p:cNvPr id="88" name="Shape 86"/>
          <p:cNvSpPr/>
          <p:nvPr/>
        </p:nvSpPr>
        <p:spPr>
          <a:xfrm>
            <a:off x="365760" y="3703320"/>
            <a:ext cx="8412480" cy="1325880"/>
          </a:xfrm>
          <a:prstGeom prst="rect">
            <a:avLst/>
          </a:prstGeom>
          <a:solidFill>
            <a:srgbClr val="0F1F3F">
              <a:alpha val="40000"/>
            </a:srgbClr>
          </a:solidFill>
          <a:ln/>
        </p:spPr>
      </p:sp>
      <p:sp>
        <p:nvSpPr>
          <p:cNvPr id="89" name="Shape 87"/>
          <p:cNvSpPr/>
          <p:nvPr/>
        </p:nvSpPr>
        <p:spPr>
          <a:xfrm>
            <a:off x="457200" y="3794760"/>
            <a:ext cx="8229600" cy="1143000"/>
          </a:xfrm>
          <a:prstGeom prst="rect">
            <a:avLst/>
          </a:prstGeom>
          <a:solidFill>
            <a:srgbClr val="1A1A2E"/>
          </a:solidFill>
          <a:ln w="38100">
            <a:solidFill>
              <a:srgbClr val="00F0FF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640080" y="39319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0F0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超值定价</a:t>
            </a:r>
            <a:endParaRPr lang="en-US" sz="3200" dirty="0"/>
          </a:p>
        </p:txBody>
      </p:sp>
      <p:sp>
        <p:nvSpPr>
          <p:cNvPr id="91" name="Text 89"/>
          <p:cNvSpPr/>
          <p:nvPr/>
        </p:nvSpPr>
        <p:spPr>
          <a:xfrm>
            <a:off x="640080" y="429768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¥1</a:t>
            </a:r>
            <a:endParaRPr lang="en-US" sz="5600" dirty="0"/>
          </a:p>
        </p:txBody>
      </p:sp>
      <p:sp>
        <p:nvSpPr>
          <p:cNvPr id="92" name="Text 90"/>
          <p:cNvSpPr/>
          <p:nvPr/>
        </p:nvSpPr>
        <p:spPr>
          <a:xfrm>
            <a:off x="2011680" y="429768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</a:t>
            </a:r>
            <a:endParaRPr lang="en-US" sz="4000" dirty="0"/>
          </a:p>
        </p:txBody>
      </p:sp>
      <p:sp>
        <p:nvSpPr>
          <p:cNvPr id="93" name="Text 91"/>
          <p:cNvSpPr/>
          <p:nvPr/>
        </p:nvSpPr>
        <p:spPr>
          <a:xfrm>
            <a:off x="2377440" y="429768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$100</a:t>
            </a:r>
            <a:endParaRPr lang="en-US" sz="5600" dirty="0"/>
          </a:p>
        </p:txBody>
      </p:sp>
      <p:sp>
        <p:nvSpPr>
          <p:cNvPr id="94" name="Text 92"/>
          <p:cNvSpPr/>
          <p:nvPr/>
        </p:nvSpPr>
        <p:spPr>
          <a:xfrm>
            <a:off x="4206240" y="438912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≈ 1500次 claude-sonnet-4.5-thinking 请求  ≈ 2000W token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6350">
            <a:solidFill>
              <a:srgbClr val="1A1A3E">
                <a:alpha val="8000"/>
              </a:srgbClr>
            </a:solidFill>
            <a:prstDash val="dash"/>
          </a:ln>
        </p:spPr>
      </p:sp>
      <p:sp>
        <p:nvSpPr>
          <p:cNvPr id="3" name="Shape 1"/>
          <p:cNvSpPr/>
          <p:nvPr/>
        </p:nvSpPr>
        <p:spPr>
          <a:xfrm>
            <a:off x="0" y="365760"/>
            <a:ext cx="9144000" cy="0"/>
          </a:xfrm>
          <a:prstGeom prst="line">
            <a:avLst/>
          </a:prstGeom>
          <a:noFill/>
          <a:ln w="6350">
            <a:solidFill>
              <a:srgbClr val="1A1A3E">
                <a:alpha val="8000"/>
              </a:srgbClr>
            </a:solidFill>
            <a:prstDash val="dash"/>
          </a:ln>
        </p:spPr>
      </p:sp>
      <p:sp>
        <p:nvSpPr>
          <p:cNvPr id="4" name="Shape 2"/>
          <p:cNvSpPr/>
          <p:nvPr/>
        </p:nvSpPr>
        <p:spPr>
          <a:xfrm>
            <a:off x="0" y="731520"/>
            <a:ext cx="9144000" cy="0"/>
          </a:xfrm>
          <a:prstGeom prst="line">
            <a:avLst/>
          </a:prstGeom>
          <a:noFill/>
          <a:ln w="6350">
            <a:solidFill>
              <a:srgbClr val="1A1A3E">
                <a:alpha val="8000"/>
              </a:srgbClr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0" y="1097280"/>
            <a:ext cx="9144000" cy="0"/>
          </a:xfrm>
          <a:prstGeom prst="line">
            <a:avLst/>
          </a:prstGeom>
          <a:noFill/>
          <a:ln w="6350">
            <a:solidFill>
              <a:srgbClr val="1A1A3E">
                <a:alpha val="8000"/>
              </a:srgbClr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0" y="1463040"/>
            <a:ext cx="9144000" cy="0"/>
          </a:xfrm>
          <a:prstGeom prst="line">
            <a:avLst/>
          </a:prstGeom>
          <a:noFill/>
          <a:ln w="6350">
            <a:solidFill>
              <a:srgbClr val="1A1A3E">
                <a:alpha val="8000"/>
              </a:srgbClr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6350">
            <a:solidFill>
              <a:srgbClr val="1A1A3E">
                <a:alpha val="8000"/>
              </a:srgbClr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0" y="2194560"/>
            <a:ext cx="9144000" cy="0"/>
          </a:xfrm>
          <a:prstGeom prst="line">
            <a:avLst/>
          </a:prstGeom>
          <a:noFill/>
          <a:ln w="6350">
            <a:solidFill>
              <a:srgbClr val="1A1A3E">
                <a:alpha val="8000"/>
              </a:srgbClr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0" y="2560320"/>
            <a:ext cx="9144000" cy="0"/>
          </a:xfrm>
          <a:prstGeom prst="line">
            <a:avLst/>
          </a:prstGeom>
          <a:noFill/>
          <a:ln w="6350">
            <a:solidFill>
              <a:srgbClr val="1A1A3E">
                <a:alpha val="8000"/>
              </a:srgbClr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0" y="2926080"/>
            <a:ext cx="9144000" cy="0"/>
          </a:xfrm>
          <a:prstGeom prst="line">
            <a:avLst/>
          </a:prstGeom>
          <a:noFill/>
          <a:ln w="6350">
            <a:solidFill>
              <a:srgbClr val="1A1A3E">
                <a:alpha val="8000"/>
              </a:srgbClr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6350">
            <a:solidFill>
              <a:srgbClr val="1A1A3E">
                <a:alpha val="8000"/>
              </a:srgbClr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6350">
            <a:solidFill>
              <a:srgbClr val="1A1A3E">
                <a:alpha val="8000"/>
              </a:srgbClr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0" y="4023360"/>
            <a:ext cx="9144000" cy="0"/>
          </a:xfrm>
          <a:prstGeom prst="line">
            <a:avLst/>
          </a:prstGeom>
          <a:noFill/>
          <a:ln w="6350">
            <a:solidFill>
              <a:srgbClr val="1A1A3E">
                <a:alpha val="8000"/>
              </a:srgbClr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0" y="4389120"/>
            <a:ext cx="9144000" cy="0"/>
          </a:xfrm>
          <a:prstGeom prst="line">
            <a:avLst/>
          </a:prstGeom>
          <a:noFill/>
          <a:ln w="6350">
            <a:solidFill>
              <a:srgbClr val="1A1A3E">
                <a:alpha val="8000"/>
              </a:srgbClr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0" y="4754880"/>
            <a:ext cx="9144000" cy="0"/>
          </a:xfrm>
          <a:prstGeom prst="line">
            <a:avLst/>
          </a:prstGeom>
          <a:noFill/>
          <a:ln w="6350">
            <a:solidFill>
              <a:srgbClr val="1A1A3E">
                <a:alpha val="8000"/>
              </a:srgbClr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0" y="5120640"/>
            <a:ext cx="9144000" cy="0"/>
          </a:xfrm>
          <a:prstGeom prst="line">
            <a:avLst/>
          </a:prstGeom>
          <a:noFill/>
          <a:ln w="6350">
            <a:solidFill>
              <a:srgbClr val="1A1A3E">
                <a:alpha val="8000"/>
              </a:srgbClr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立即启航</a:t>
            </a:r>
            <a:endParaRPr lang="en-US" sz="5200" dirty="0"/>
          </a:p>
        </p:txBody>
      </p:sp>
      <p:sp>
        <p:nvSpPr>
          <p:cNvPr id="18" name="Shape 16"/>
          <p:cNvSpPr/>
          <p:nvPr/>
        </p:nvSpPr>
        <p:spPr>
          <a:xfrm>
            <a:off x="3657600" y="1005840"/>
            <a:ext cx="1828800" cy="45720"/>
          </a:xfrm>
          <a:prstGeom prst="rect">
            <a:avLst/>
          </a:prstGeom>
          <a:solidFill>
            <a:srgbClr val="00F0FF"/>
          </a:solidFill>
          <a:ln/>
        </p:spPr>
      </p:sp>
      <p:sp>
        <p:nvSpPr>
          <p:cNvPr id="19" name="Shape 17"/>
          <p:cNvSpPr/>
          <p:nvPr/>
        </p:nvSpPr>
        <p:spPr>
          <a:xfrm>
            <a:off x="365760" y="1188720"/>
            <a:ext cx="8412480" cy="1188720"/>
          </a:xfrm>
          <a:prstGeom prst="rect">
            <a:avLst/>
          </a:prstGeom>
          <a:solidFill>
            <a:srgbClr val="0F1F3F">
              <a:alpha val="5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457200" y="1280160"/>
            <a:ext cx="8229600" cy="1005840"/>
          </a:xfrm>
          <a:prstGeom prst="rect">
            <a:avLst/>
          </a:prstGeom>
          <a:solidFill>
            <a:srgbClr val="1A1A2E"/>
          </a:solidFill>
          <a:ln w="50800">
            <a:solidFill>
              <a:srgbClr val="00F0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14630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🌐</a:t>
            </a:r>
            <a:endParaRPr lang="en-US" sz="4800" dirty="0"/>
          </a:p>
        </p:txBody>
      </p:sp>
      <p:sp>
        <p:nvSpPr>
          <p:cNvPr id="22" name="Text 20"/>
          <p:cNvSpPr/>
          <p:nvPr/>
        </p:nvSpPr>
        <p:spPr>
          <a:xfrm>
            <a:off x="1280160" y="150876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F0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星空AI中转站</a:t>
            </a:r>
            <a:endParaRPr lang="en-US" sz="2800" dirty="0"/>
          </a:p>
        </p:txBody>
      </p:sp>
      <p:sp>
        <p:nvSpPr>
          <p:cNvPr id="23" name="Text 21">
            <a:hlinkClick r:id="rId1" tooltip=""/>
          </p:cNvPr>
          <p:cNvSpPr/>
          <p:nvPr/>
        </p:nvSpPr>
        <p:spPr>
          <a:xfrm>
            <a:off x="1280160" y="1901952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u="sng" dirty="0">
                <a:solidFill>
                  <a:srgbClr val="FFD700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xingkongai.zeabur.app</a:t>
            </a:r>
            <a:endParaRPr lang="en-US" sz="3200" dirty="0"/>
          </a:p>
        </p:txBody>
      </p:sp>
      <p:sp>
        <p:nvSpPr>
          <p:cNvPr id="24" name="Text 22"/>
          <p:cNvSpPr/>
          <p:nvPr/>
        </p:nvSpPr>
        <p:spPr>
          <a:xfrm>
            <a:off x="457200" y="2514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核心优势</a:t>
            </a:r>
            <a:endParaRPr lang="en-US" sz="3600" dirty="0"/>
          </a:p>
        </p:txBody>
      </p:sp>
      <p:sp>
        <p:nvSpPr>
          <p:cNvPr id="25" name="Shape 23"/>
          <p:cNvSpPr/>
          <p:nvPr/>
        </p:nvSpPr>
        <p:spPr>
          <a:xfrm>
            <a:off x="457200" y="3108960"/>
            <a:ext cx="2651760" cy="1554480"/>
          </a:xfrm>
          <a:prstGeom prst="rect">
            <a:avLst/>
          </a:prstGeom>
          <a:solidFill>
            <a:srgbClr val="252541"/>
          </a:solidFill>
          <a:ln/>
        </p:spPr>
      </p:sp>
      <p:sp>
        <p:nvSpPr>
          <p:cNvPr id="26" name="Shape 24"/>
          <p:cNvSpPr/>
          <p:nvPr/>
        </p:nvSpPr>
        <p:spPr>
          <a:xfrm>
            <a:off x="457200" y="3108960"/>
            <a:ext cx="2651760" cy="73152"/>
          </a:xfrm>
          <a:prstGeom prst="rect">
            <a:avLst/>
          </a:prstGeom>
          <a:solidFill>
            <a:srgbClr val="00FF88"/>
          </a:solidFill>
          <a:ln/>
        </p:spPr>
      </p:sp>
      <p:sp>
        <p:nvSpPr>
          <p:cNvPr id="27" name="Shape 25"/>
          <p:cNvSpPr/>
          <p:nvPr/>
        </p:nvSpPr>
        <p:spPr>
          <a:xfrm>
            <a:off x="1417320" y="3337560"/>
            <a:ext cx="731520" cy="731520"/>
          </a:xfrm>
          <a:prstGeom prst="ellipse">
            <a:avLst/>
          </a:prstGeom>
          <a:solidFill>
            <a:srgbClr val="00FF88">
              <a:alpha val="80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457200" y="333756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000000"/>
                </a:solidFill>
              </a:rPr>
              <a:t>⚡</a:t>
            </a:r>
            <a:endParaRPr lang="en-US" sz="5600" dirty="0"/>
          </a:p>
        </p:txBody>
      </p:sp>
      <p:sp>
        <p:nvSpPr>
          <p:cNvPr id="29" name="Text 27"/>
          <p:cNvSpPr/>
          <p:nvPr/>
        </p:nvSpPr>
        <p:spPr>
          <a:xfrm>
            <a:off x="594360" y="41605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FF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支持高并发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594360" y="4462272"/>
            <a:ext cx="2377440" cy="137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892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无请求限制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8892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轻松应对大规模调用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3246120" y="3108960"/>
            <a:ext cx="2651760" cy="1554480"/>
          </a:xfrm>
          <a:prstGeom prst="rect">
            <a:avLst/>
          </a:prstGeom>
          <a:solidFill>
            <a:srgbClr val="252541"/>
          </a:solidFill>
          <a:ln/>
        </p:spPr>
      </p:sp>
      <p:sp>
        <p:nvSpPr>
          <p:cNvPr id="32" name="Shape 30"/>
          <p:cNvSpPr/>
          <p:nvPr/>
        </p:nvSpPr>
        <p:spPr>
          <a:xfrm>
            <a:off x="3246120" y="3108960"/>
            <a:ext cx="2651760" cy="73152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3" name="Shape 31"/>
          <p:cNvSpPr/>
          <p:nvPr/>
        </p:nvSpPr>
        <p:spPr>
          <a:xfrm>
            <a:off x="4206240" y="3337560"/>
            <a:ext cx="731520" cy="731520"/>
          </a:xfrm>
          <a:prstGeom prst="ellipse">
            <a:avLst/>
          </a:prstGeom>
          <a:solidFill>
            <a:srgbClr val="00D4FF">
              <a:alpha val="80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3246120" y="333756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000000"/>
                </a:solidFill>
              </a:rPr>
              <a:t>🚀</a:t>
            </a:r>
            <a:endParaRPr lang="en-US" sz="5600" dirty="0"/>
          </a:p>
        </p:txBody>
      </p:sp>
      <p:sp>
        <p:nvSpPr>
          <p:cNvPr id="35" name="Text 33"/>
          <p:cNvSpPr/>
          <p:nvPr/>
        </p:nvSpPr>
        <p:spPr>
          <a:xfrm>
            <a:off x="3383280" y="41605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D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请求速度极快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3383280" y="4462272"/>
            <a:ext cx="2377440" cy="137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892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毫秒级响应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8892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极致性能体验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6035040" y="3108960"/>
            <a:ext cx="2651760" cy="1554480"/>
          </a:xfrm>
          <a:prstGeom prst="rect">
            <a:avLst/>
          </a:prstGeom>
          <a:solidFill>
            <a:srgbClr val="252541"/>
          </a:solidFill>
          <a:ln/>
        </p:spPr>
      </p:sp>
      <p:sp>
        <p:nvSpPr>
          <p:cNvPr id="38" name="Shape 36"/>
          <p:cNvSpPr/>
          <p:nvPr/>
        </p:nvSpPr>
        <p:spPr>
          <a:xfrm>
            <a:off x="6035040" y="3108960"/>
            <a:ext cx="2651760" cy="73152"/>
          </a:xfrm>
          <a:prstGeom prst="rect">
            <a:avLst/>
          </a:prstGeom>
          <a:solidFill>
            <a:srgbClr val="FF8C42"/>
          </a:solidFill>
          <a:ln/>
        </p:spPr>
      </p:sp>
      <p:sp>
        <p:nvSpPr>
          <p:cNvPr id="39" name="Shape 37"/>
          <p:cNvSpPr/>
          <p:nvPr/>
        </p:nvSpPr>
        <p:spPr>
          <a:xfrm>
            <a:off x="6995160" y="3337560"/>
            <a:ext cx="731520" cy="731520"/>
          </a:xfrm>
          <a:prstGeom prst="ellipse">
            <a:avLst/>
          </a:prstGeom>
          <a:solidFill>
            <a:srgbClr val="FF8C42">
              <a:alpha val="80000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6035040" y="333756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000000"/>
                </a:solidFill>
              </a:rPr>
              <a:t>🌏</a:t>
            </a:r>
            <a:endParaRPr lang="en-US" sz="5600" dirty="0"/>
          </a:p>
        </p:txBody>
      </p:sp>
      <p:sp>
        <p:nvSpPr>
          <p:cNvPr id="41" name="Text 39"/>
          <p:cNvSpPr/>
          <p:nvPr/>
        </p:nvSpPr>
        <p:spPr>
          <a:xfrm>
            <a:off x="6172200" y="41605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8C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国内无须魔法</a:t>
            </a:r>
            <a:endParaRPr lang="en-US" sz="2000" dirty="0"/>
          </a:p>
        </p:txBody>
      </p:sp>
      <p:sp>
        <p:nvSpPr>
          <p:cNvPr id="42" name="Text 40"/>
          <p:cNvSpPr/>
          <p:nvPr/>
        </p:nvSpPr>
        <p:spPr>
          <a:xfrm>
            <a:off x="6172200" y="4462272"/>
            <a:ext cx="2377440" cy="137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892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直连访问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8892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稳定可靠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371600"/>
            <a:ext cx="9144000" cy="0"/>
          </a:xfrm>
          <a:prstGeom prst="line">
            <a:avLst/>
          </a:prstGeom>
          <a:noFill/>
          <a:ln w="12700">
            <a:solidFill>
              <a:srgbClr val="1A1A3E">
                <a:alpha val="15000"/>
              </a:srgbClr>
            </a:solidFill>
            <a:prstDash val="lgDash"/>
          </a:ln>
        </p:spPr>
      </p:sp>
      <p:sp>
        <p:nvSpPr>
          <p:cNvPr id="3" name="Shape 1"/>
          <p:cNvSpPr/>
          <p:nvPr/>
        </p:nvSpPr>
        <p:spPr>
          <a:xfrm>
            <a:off x="0" y="2011680"/>
            <a:ext cx="9144000" cy="0"/>
          </a:xfrm>
          <a:prstGeom prst="line">
            <a:avLst/>
          </a:prstGeom>
          <a:noFill/>
          <a:ln w="12700">
            <a:solidFill>
              <a:srgbClr val="1A1A3E">
                <a:alpha val="15000"/>
              </a:srgbClr>
            </a:solidFill>
            <a:prstDash val="lgDash"/>
          </a:ln>
        </p:spPr>
      </p:sp>
      <p:sp>
        <p:nvSpPr>
          <p:cNvPr id="4" name="Shape 2"/>
          <p:cNvSpPr/>
          <p:nvPr/>
        </p:nvSpPr>
        <p:spPr>
          <a:xfrm>
            <a:off x="0" y="2651760"/>
            <a:ext cx="9144000" cy="0"/>
          </a:xfrm>
          <a:prstGeom prst="line">
            <a:avLst/>
          </a:prstGeom>
          <a:noFill/>
          <a:ln w="12700">
            <a:solidFill>
              <a:srgbClr val="1A1A3E">
                <a:alpha val="15000"/>
              </a:srgbClr>
            </a:solidFill>
            <a:prstDash val="lgDash"/>
          </a:ln>
        </p:spPr>
      </p:sp>
      <p:sp>
        <p:nvSpPr>
          <p:cNvPr id="5" name="Shape 3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12700">
            <a:solidFill>
              <a:srgbClr val="1A1A3E">
                <a:alpha val="15000"/>
              </a:srgbClr>
            </a:solidFill>
            <a:prstDash val="lgDash"/>
          </a:ln>
        </p:spPr>
      </p:sp>
      <p:sp>
        <p:nvSpPr>
          <p:cNvPr id="6" name="Shape 4"/>
          <p:cNvSpPr/>
          <p:nvPr/>
        </p:nvSpPr>
        <p:spPr>
          <a:xfrm>
            <a:off x="0" y="3931920"/>
            <a:ext cx="9144000" cy="0"/>
          </a:xfrm>
          <a:prstGeom prst="line">
            <a:avLst/>
          </a:prstGeom>
          <a:noFill/>
          <a:ln w="12700">
            <a:solidFill>
              <a:srgbClr val="1A1A3E">
                <a:alpha val="15000"/>
              </a:srgbClr>
            </a:solidFill>
            <a:prstDash val="lgDash"/>
          </a:ln>
        </p:spPr>
      </p:sp>
      <p:sp>
        <p:nvSpPr>
          <p:cNvPr id="7" name="Shape 5"/>
          <p:cNvSpPr/>
          <p:nvPr/>
        </p:nvSpPr>
        <p:spPr>
          <a:xfrm>
            <a:off x="0" y="4572000"/>
            <a:ext cx="9144000" cy="0"/>
          </a:xfrm>
          <a:prstGeom prst="line">
            <a:avLst/>
          </a:prstGeom>
          <a:noFill/>
          <a:ln w="12700">
            <a:solidFill>
              <a:srgbClr val="1A1A3E">
                <a:alpha val="15000"/>
              </a:srgbClr>
            </a:solidFill>
            <a:prstDash val="lgDash"/>
          </a:ln>
        </p:spPr>
      </p:sp>
      <p:sp>
        <p:nvSpPr>
          <p:cNvPr id="8" name="Text 6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快速接入</a:t>
            </a:r>
            <a:endParaRPr lang="en-US" sz="5200" dirty="0"/>
          </a:p>
        </p:txBody>
      </p:sp>
      <p:sp>
        <p:nvSpPr>
          <p:cNvPr id="9" name="Shape 7"/>
          <p:cNvSpPr/>
          <p:nvPr/>
        </p:nvSpPr>
        <p:spPr>
          <a:xfrm>
            <a:off x="457200" y="1005840"/>
            <a:ext cx="2743200" cy="45720"/>
          </a:xfrm>
          <a:prstGeom prst="rect">
            <a:avLst/>
          </a:prstGeom>
          <a:solidFill>
            <a:srgbClr val="00F0FF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1234440"/>
            <a:ext cx="4160520" cy="640080"/>
          </a:xfrm>
          <a:prstGeom prst="rect">
            <a:avLst/>
          </a:prstGeom>
          <a:solidFill>
            <a:srgbClr val="252541"/>
          </a:solidFill>
          <a:ln/>
        </p:spPr>
      </p:sp>
      <p:sp>
        <p:nvSpPr>
          <p:cNvPr id="11" name="Shape 9"/>
          <p:cNvSpPr/>
          <p:nvPr/>
        </p:nvSpPr>
        <p:spPr>
          <a:xfrm>
            <a:off x="457200" y="1234440"/>
            <a:ext cx="594360" cy="640080"/>
          </a:xfrm>
          <a:prstGeom prst="rect">
            <a:avLst/>
          </a:prstGeom>
          <a:solidFill>
            <a:srgbClr val="00FF88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1234440"/>
            <a:ext cx="594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A0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1143000" y="1325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👤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1645920" y="1344168"/>
            <a:ext cx="288036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注册账号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645920" y="1618488"/>
            <a:ext cx="288036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8892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赠送 10$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663440" y="1481328"/>
            <a:ext cx="91440" cy="146304"/>
          </a:xfrm>
          <a:prstGeom prst="rightArrow">
            <a:avLst/>
          </a:prstGeom>
          <a:solidFill>
            <a:srgbClr val="00F0FF">
              <a:alpha val="5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4800600" y="1234440"/>
            <a:ext cx="4160520" cy="640080"/>
          </a:xfrm>
          <a:prstGeom prst="rect">
            <a:avLst/>
          </a:prstGeom>
          <a:solidFill>
            <a:srgbClr val="252541"/>
          </a:solidFill>
          <a:ln/>
        </p:spPr>
      </p:sp>
      <p:sp>
        <p:nvSpPr>
          <p:cNvPr id="18" name="Shape 16"/>
          <p:cNvSpPr/>
          <p:nvPr/>
        </p:nvSpPr>
        <p:spPr>
          <a:xfrm>
            <a:off x="4800600" y="1234440"/>
            <a:ext cx="594360" cy="64008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19" name="Text 17"/>
          <p:cNvSpPr/>
          <p:nvPr/>
        </p:nvSpPr>
        <p:spPr>
          <a:xfrm>
            <a:off x="4800600" y="1234440"/>
            <a:ext cx="594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A0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5486400" y="1325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🔑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5989320" y="1344168"/>
            <a:ext cx="288036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获取令牌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989320" y="1618488"/>
            <a:ext cx="288036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8892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 API Token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807708" y="1892808"/>
            <a:ext cx="146304" cy="109728"/>
          </a:xfrm>
          <a:prstGeom prst="downArrow">
            <a:avLst/>
          </a:prstGeom>
          <a:solidFill>
            <a:srgbClr val="00F0FF">
              <a:alpha val="50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457200" y="2039112"/>
            <a:ext cx="4160520" cy="640080"/>
          </a:xfrm>
          <a:prstGeom prst="rect">
            <a:avLst/>
          </a:prstGeom>
          <a:solidFill>
            <a:srgbClr val="252541"/>
          </a:solidFill>
          <a:ln/>
        </p:spPr>
      </p:sp>
      <p:sp>
        <p:nvSpPr>
          <p:cNvPr id="25" name="Shape 23"/>
          <p:cNvSpPr/>
          <p:nvPr/>
        </p:nvSpPr>
        <p:spPr>
          <a:xfrm>
            <a:off x="457200" y="2039112"/>
            <a:ext cx="594360" cy="640080"/>
          </a:xfrm>
          <a:prstGeom prst="rect">
            <a:avLst/>
          </a:prstGeom>
          <a:solidFill>
            <a:srgbClr val="0099FF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2039112"/>
            <a:ext cx="594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A0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1143000" y="21305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🌐</a:t>
            </a:r>
            <a:endParaRPr lang="en-US" sz="3200" dirty="0"/>
          </a:p>
        </p:txBody>
      </p:sp>
      <p:sp>
        <p:nvSpPr>
          <p:cNvPr id="28" name="Text 26"/>
          <p:cNvSpPr/>
          <p:nvPr/>
        </p:nvSpPr>
        <p:spPr>
          <a:xfrm>
            <a:off x="1645920" y="2148840"/>
            <a:ext cx="288036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配置请求地址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645920" y="2423160"/>
            <a:ext cx="288036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8892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xingkongai.zeabur.app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663440" y="2286000"/>
            <a:ext cx="91440" cy="146304"/>
          </a:xfrm>
          <a:prstGeom prst="rightArrow">
            <a:avLst/>
          </a:prstGeom>
          <a:solidFill>
            <a:srgbClr val="00F0FF">
              <a:alpha val="50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4800600" y="2039112"/>
            <a:ext cx="4160520" cy="640080"/>
          </a:xfrm>
          <a:prstGeom prst="rect">
            <a:avLst/>
          </a:prstGeom>
          <a:solidFill>
            <a:srgbClr val="252541"/>
          </a:solidFill>
          <a:ln/>
        </p:spPr>
      </p:sp>
      <p:sp>
        <p:nvSpPr>
          <p:cNvPr id="32" name="Shape 30"/>
          <p:cNvSpPr/>
          <p:nvPr/>
        </p:nvSpPr>
        <p:spPr>
          <a:xfrm>
            <a:off x="4800600" y="2039112"/>
            <a:ext cx="594360" cy="640080"/>
          </a:xfrm>
          <a:prstGeom prst="rect">
            <a:avLst/>
          </a:prstGeom>
          <a:solidFill>
            <a:srgbClr val="FF8C42"/>
          </a:solidFill>
          <a:ln/>
        </p:spPr>
      </p:sp>
      <p:sp>
        <p:nvSpPr>
          <p:cNvPr id="33" name="Text 31"/>
          <p:cNvSpPr/>
          <p:nvPr/>
        </p:nvSpPr>
        <p:spPr>
          <a:xfrm>
            <a:off x="4800600" y="2039112"/>
            <a:ext cx="594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A0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2800" dirty="0"/>
          </a:p>
        </p:txBody>
      </p:sp>
      <p:sp>
        <p:nvSpPr>
          <p:cNvPr id="34" name="Text 32"/>
          <p:cNvSpPr/>
          <p:nvPr/>
        </p:nvSpPr>
        <p:spPr>
          <a:xfrm>
            <a:off x="5486400" y="21305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⚙️</a:t>
            </a:r>
            <a:endParaRPr lang="en-US" sz="3200" dirty="0"/>
          </a:p>
        </p:txBody>
      </p:sp>
      <p:sp>
        <p:nvSpPr>
          <p:cNvPr id="35" name="Text 33"/>
          <p:cNvSpPr/>
          <p:nvPr/>
        </p:nvSpPr>
        <p:spPr>
          <a:xfrm>
            <a:off x="5989320" y="2148840"/>
            <a:ext cx="288036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配置令牌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5989320" y="2423160"/>
            <a:ext cx="288036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8892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填入获取到的令牌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6807708" y="2697480"/>
            <a:ext cx="146304" cy="109728"/>
          </a:xfrm>
          <a:prstGeom prst="downArrow">
            <a:avLst/>
          </a:prstGeom>
          <a:solidFill>
            <a:srgbClr val="00F0FF">
              <a:alpha val="50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457200" y="2843784"/>
            <a:ext cx="4160520" cy="640080"/>
          </a:xfrm>
          <a:prstGeom prst="rect">
            <a:avLst/>
          </a:prstGeom>
          <a:solidFill>
            <a:srgbClr val="252541"/>
          </a:solidFill>
          <a:ln/>
        </p:spPr>
      </p:sp>
      <p:sp>
        <p:nvSpPr>
          <p:cNvPr id="39" name="Shape 37"/>
          <p:cNvSpPr/>
          <p:nvPr/>
        </p:nvSpPr>
        <p:spPr>
          <a:xfrm>
            <a:off x="457200" y="2843784"/>
            <a:ext cx="594360" cy="640080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40" name="Text 38"/>
          <p:cNvSpPr/>
          <p:nvPr/>
        </p:nvSpPr>
        <p:spPr>
          <a:xfrm>
            <a:off x="457200" y="2843784"/>
            <a:ext cx="594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A0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2800" dirty="0"/>
          </a:p>
        </p:txBody>
      </p:sp>
      <p:sp>
        <p:nvSpPr>
          <p:cNvPr id="41" name="Text 39"/>
          <p:cNvSpPr/>
          <p:nvPr/>
        </p:nvSpPr>
        <p:spPr>
          <a:xfrm>
            <a:off x="1143000" y="293522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📋</a:t>
            </a:r>
            <a:endParaRPr lang="en-US" sz="3200" dirty="0"/>
          </a:p>
        </p:txBody>
      </p:sp>
      <p:sp>
        <p:nvSpPr>
          <p:cNvPr id="42" name="Text 40"/>
          <p:cNvSpPr/>
          <p:nvPr/>
        </p:nvSpPr>
        <p:spPr>
          <a:xfrm>
            <a:off x="1645920" y="2953512"/>
            <a:ext cx="288036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配置API格式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1645920" y="3227832"/>
            <a:ext cx="288036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8892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Anthropic / OpenAI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4663440" y="3090672"/>
            <a:ext cx="91440" cy="146304"/>
          </a:xfrm>
          <a:prstGeom prst="rightArrow">
            <a:avLst/>
          </a:prstGeom>
          <a:solidFill>
            <a:srgbClr val="00F0FF">
              <a:alpha val="50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4800600" y="2843784"/>
            <a:ext cx="4160520" cy="640080"/>
          </a:xfrm>
          <a:prstGeom prst="rect">
            <a:avLst/>
          </a:prstGeom>
          <a:solidFill>
            <a:srgbClr val="252541"/>
          </a:solidFill>
          <a:ln/>
        </p:spPr>
      </p:sp>
      <p:sp>
        <p:nvSpPr>
          <p:cNvPr id="46" name="Shape 44"/>
          <p:cNvSpPr/>
          <p:nvPr/>
        </p:nvSpPr>
        <p:spPr>
          <a:xfrm>
            <a:off x="4800600" y="2843784"/>
            <a:ext cx="594360" cy="640080"/>
          </a:xfrm>
          <a:prstGeom prst="rect">
            <a:avLst/>
          </a:prstGeom>
          <a:solidFill>
            <a:srgbClr val="FF6B9D"/>
          </a:solidFill>
          <a:ln/>
        </p:spPr>
      </p:sp>
      <p:sp>
        <p:nvSpPr>
          <p:cNvPr id="47" name="Text 45"/>
          <p:cNvSpPr/>
          <p:nvPr/>
        </p:nvSpPr>
        <p:spPr>
          <a:xfrm>
            <a:off x="4800600" y="2843784"/>
            <a:ext cx="594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A0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2800" dirty="0"/>
          </a:p>
        </p:txBody>
      </p:sp>
      <p:sp>
        <p:nvSpPr>
          <p:cNvPr id="48" name="Text 46"/>
          <p:cNvSpPr/>
          <p:nvPr/>
        </p:nvSpPr>
        <p:spPr>
          <a:xfrm>
            <a:off x="5486400" y="293522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✨</a:t>
            </a:r>
            <a:endParaRPr lang="en-US" sz="3200" dirty="0"/>
          </a:p>
        </p:txBody>
      </p:sp>
      <p:sp>
        <p:nvSpPr>
          <p:cNvPr id="49" name="Text 47"/>
          <p:cNvSpPr/>
          <p:nvPr/>
        </p:nvSpPr>
        <p:spPr>
          <a:xfrm>
            <a:off x="5989320" y="2953512"/>
            <a:ext cx="288036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完美应用</a:t>
            </a:r>
            <a:endParaRPr lang="en-US" sz="1800" dirty="0"/>
          </a:p>
        </p:txBody>
      </p:sp>
      <p:sp>
        <p:nvSpPr>
          <p:cNvPr id="50" name="Text 48"/>
          <p:cNvSpPr/>
          <p:nvPr/>
        </p:nvSpPr>
        <p:spPr>
          <a:xfrm>
            <a:off x="5989320" y="3227832"/>
            <a:ext cx="288036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8892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Claude Code / Kilo / OpenCode</a:t>
            </a:r>
            <a:endParaRPr lang="en-US" sz="1300" dirty="0"/>
          </a:p>
        </p:txBody>
      </p:sp>
      <p:sp>
        <p:nvSpPr>
          <p:cNvPr id="51" name="Shape 49"/>
          <p:cNvSpPr/>
          <p:nvPr/>
        </p:nvSpPr>
        <p:spPr>
          <a:xfrm>
            <a:off x="457200" y="3739896"/>
            <a:ext cx="8503920" cy="594360"/>
          </a:xfrm>
          <a:prstGeom prst="rect">
            <a:avLst/>
          </a:prstGeom>
          <a:solidFill>
            <a:srgbClr val="0F1F3F"/>
          </a:solidFill>
          <a:ln w="25400">
            <a:solidFill>
              <a:srgbClr val="FFD70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40080" y="38130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💡</a:t>
            </a:r>
            <a:endParaRPr lang="en-US" sz="3200" dirty="0"/>
          </a:p>
        </p:txBody>
      </p:sp>
      <p:sp>
        <p:nvSpPr>
          <p:cNvPr id="53" name="Text 51"/>
          <p:cNvSpPr/>
          <p:nvPr/>
        </p:nvSpPr>
        <p:spPr>
          <a:xfrm>
            <a:off x="1188720" y="3849624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D7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新用户注册即送 10$ 额度，立即开始体验！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0" y="2571750"/>
            <a:ext cx="2286000" cy="0"/>
          </a:xfrm>
          <a:prstGeom prst="line">
            <a:avLst/>
          </a:prstGeom>
          <a:noFill/>
          <a:ln w="12700">
            <a:solidFill>
              <a:srgbClr val="1A1A3E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967947" y="2800350"/>
            <a:ext cx="1979734" cy="1143000"/>
          </a:xfrm>
          <a:prstGeom prst="line">
            <a:avLst/>
          </a:prstGeom>
          <a:noFill/>
          <a:ln w="12700">
            <a:solidFill>
              <a:srgbClr val="1A1A3E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800600" y="2967697"/>
            <a:ext cx="1143000" cy="1979734"/>
          </a:xfrm>
          <a:prstGeom prst="line">
            <a:avLst/>
          </a:prstGeom>
          <a:noFill/>
          <a:ln w="12700">
            <a:solidFill>
              <a:srgbClr val="1A1A3E">
                <a:alpha val="1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0" y="3028950"/>
            <a:ext cx="0" cy="2286000"/>
          </a:xfrm>
          <a:prstGeom prst="line">
            <a:avLst/>
          </a:prstGeom>
          <a:noFill/>
          <a:ln w="12700">
            <a:solidFill>
              <a:srgbClr val="1A1A3E">
                <a:alpha val="1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343400" y="2967697"/>
            <a:ext cx="-1143000" cy="1979734"/>
          </a:xfrm>
          <a:prstGeom prst="line">
            <a:avLst/>
          </a:prstGeom>
          <a:noFill/>
          <a:ln w="12700">
            <a:solidFill>
              <a:srgbClr val="1A1A3E">
                <a:alpha val="1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76053" y="2800350"/>
            <a:ext cx="-1979734" cy="1143000"/>
          </a:xfrm>
          <a:prstGeom prst="line">
            <a:avLst/>
          </a:prstGeom>
          <a:noFill/>
          <a:ln w="12700">
            <a:solidFill>
              <a:srgbClr val="1A1A3E">
                <a:alpha val="1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0" y="2571750"/>
            <a:ext cx="-2286000" cy="0"/>
          </a:xfrm>
          <a:prstGeom prst="line">
            <a:avLst/>
          </a:prstGeom>
          <a:noFill/>
          <a:ln w="12700">
            <a:solidFill>
              <a:srgbClr val="1A1A3E">
                <a:alpha val="1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76053" y="2343150"/>
            <a:ext cx="-1979734" cy="-1143000"/>
          </a:xfrm>
          <a:prstGeom prst="line">
            <a:avLst/>
          </a:prstGeom>
          <a:noFill/>
          <a:ln w="12700">
            <a:solidFill>
              <a:srgbClr val="1A1A3E">
                <a:alpha val="1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43400" y="2175803"/>
            <a:ext cx="-1143000" cy="-1979734"/>
          </a:xfrm>
          <a:prstGeom prst="line">
            <a:avLst/>
          </a:prstGeom>
          <a:noFill/>
          <a:ln w="12700">
            <a:solidFill>
              <a:srgbClr val="1A1A3E">
                <a:alpha val="1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0" y="2114550"/>
            <a:ext cx="0" cy="-2286000"/>
          </a:xfrm>
          <a:prstGeom prst="line">
            <a:avLst/>
          </a:prstGeom>
          <a:noFill/>
          <a:ln w="12700">
            <a:solidFill>
              <a:srgbClr val="1A1A3E">
                <a:alpha val="12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00600" y="2175803"/>
            <a:ext cx="1143000" cy="-1979734"/>
          </a:xfrm>
          <a:prstGeom prst="line">
            <a:avLst/>
          </a:prstGeom>
          <a:noFill/>
          <a:ln w="12700">
            <a:solidFill>
              <a:srgbClr val="1A1A3E">
                <a:alpha val="12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967947" y="2343150"/>
            <a:ext cx="1979734" cy="-1143000"/>
          </a:xfrm>
          <a:prstGeom prst="line">
            <a:avLst/>
          </a:prstGeom>
          <a:noFill/>
          <a:ln w="12700">
            <a:solidFill>
              <a:srgbClr val="1A1A3E">
                <a:alpha val="12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全程护航</a:t>
            </a:r>
            <a:endParaRPr lang="en-US" sz="5200" dirty="0"/>
          </a:p>
        </p:txBody>
      </p:sp>
      <p:sp>
        <p:nvSpPr>
          <p:cNvPr id="15" name="Shape 13"/>
          <p:cNvSpPr/>
          <p:nvPr/>
        </p:nvSpPr>
        <p:spPr>
          <a:xfrm>
            <a:off x="3657600" y="1005840"/>
            <a:ext cx="1828800" cy="45720"/>
          </a:xfrm>
          <a:prstGeom prst="rect">
            <a:avLst/>
          </a:prstGeom>
          <a:solidFill>
            <a:srgbClr val="00F0FF"/>
          </a:solidFill>
          <a:ln/>
        </p:spPr>
      </p:sp>
      <p:sp>
        <p:nvSpPr>
          <p:cNvPr id="16" name="Shape 14"/>
          <p:cNvSpPr/>
          <p:nvPr/>
        </p:nvSpPr>
        <p:spPr>
          <a:xfrm>
            <a:off x="960120" y="1188720"/>
            <a:ext cx="7223760" cy="1645920"/>
          </a:xfrm>
          <a:prstGeom prst="ellipse">
            <a:avLst/>
          </a:prstGeom>
          <a:solidFill>
            <a:srgbClr val="0F1F3F">
              <a:alpha val="4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143000" y="1371600"/>
            <a:ext cx="6858000" cy="1280160"/>
          </a:xfrm>
          <a:prstGeom prst="rect">
            <a:avLst/>
          </a:prstGeom>
          <a:solidFill>
            <a:srgbClr val="252541"/>
          </a:solidFill>
          <a:ln w="38100">
            <a:solidFill>
              <a:srgbClr val="00F0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43000" y="150876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dirty="0">
                <a:solidFill>
                  <a:srgbClr val="000000"/>
                </a:solidFill>
              </a:rPr>
              <a:t>🛡️</a:t>
            </a:r>
            <a:endParaRPr lang="en-US" sz="6400" dirty="0"/>
          </a:p>
        </p:txBody>
      </p:sp>
      <p:sp>
        <p:nvSpPr>
          <p:cNvPr id="19" name="Text 17"/>
          <p:cNvSpPr/>
          <p:nvPr/>
        </p:nvSpPr>
        <p:spPr>
          <a:xfrm>
            <a:off x="1143000" y="210312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F0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完整的售后服务</a:t>
            </a:r>
            <a:endParaRPr lang="en-US" sz="3200" dirty="0"/>
          </a:p>
        </p:txBody>
      </p:sp>
      <p:sp>
        <p:nvSpPr>
          <p:cNvPr id="20" name="Shape 18"/>
          <p:cNvSpPr/>
          <p:nvPr/>
        </p:nvSpPr>
        <p:spPr>
          <a:xfrm>
            <a:off x="1600200" y="2834640"/>
            <a:ext cx="5943600" cy="1463040"/>
          </a:xfrm>
          <a:prstGeom prst="rect">
            <a:avLst/>
          </a:prstGeom>
          <a:solidFill>
            <a:srgbClr val="1A1A2E"/>
          </a:solidFill>
          <a:ln w="50800">
            <a:solidFill>
              <a:srgbClr val="FFD70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600200" y="2834640"/>
            <a:ext cx="5943600" cy="91440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22" name="Text 20"/>
          <p:cNvSpPr/>
          <p:nvPr/>
        </p:nvSpPr>
        <p:spPr>
          <a:xfrm>
            <a:off x="1600200" y="306324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💬</a:t>
            </a:r>
            <a:endParaRPr lang="en-US" sz="4800" dirty="0"/>
          </a:p>
        </p:txBody>
      </p:sp>
      <p:sp>
        <p:nvSpPr>
          <p:cNvPr id="23" name="Text 21"/>
          <p:cNvSpPr/>
          <p:nvPr/>
        </p:nvSpPr>
        <p:spPr>
          <a:xfrm>
            <a:off x="1600200" y="356616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加入技术支持QQ群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1600200" y="388620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D7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978772109</a:t>
            </a:r>
            <a:endParaRPr lang="en-US" sz="4000" dirty="0"/>
          </a:p>
        </p:txBody>
      </p:sp>
      <p:sp>
        <p:nvSpPr>
          <p:cNvPr id="25" name="Text 23"/>
          <p:cNvSpPr/>
          <p:nvPr/>
        </p:nvSpPr>
        <p:spPr>
          <a:xfrm>
            <a:off x="914400" y="45720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892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7×24 小时技术支持  ·  随时为您解答疑问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星空AI - 下一代AI API网关</dc:title>
  <dc:subject>PptxGenJS Presentation</dc:subject>
  <dc:creator>星空AI</dc:creator>
  <cp:lastModifiedBy>星空AI</cp:lastModifiedBy>
  <cp:revision>1</cp:revision>
  <dcterms:created xsi:type="dcterms:W3CDTF">2026-04-18T11:43:56Z</dcterms:created>
  <dcterms:modified xsi:type="dcterms:W3CDTF">2026-04-18T11:43:56Z</dcterms:modified>
</cp:coreProperties>
</file>